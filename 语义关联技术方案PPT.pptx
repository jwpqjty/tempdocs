
<file path=[Content_Types].xml><?xml version="1.0" encoding="utf-8"?>
<Types xmlns="http://schemas.openxmlformats.org/package/2006/content-types"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2.xml"/>
  <Override ContentType="application/vnd.openxmlformats-officedocument.presentationml.slide+xml" PartName="/ppt/slides/slide1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core.xml" Type="http://schemas.openxmlformats.org/package/2006/relationships/metadata/core-properties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  <p:sldMasterId id="2147483660" r:id="rId8"/>
  </p:sldMasterIdLst>
  <p:notesMasterIdLst>
    <p:notesMasterId r:id="rId6"/>
  </p:notesMasterIdLst>
  <p:sldIdLst>
    <p:sldId id="256" r:id="rId9"/>
  </p:sldIdLst>
  <p:sldSz cx="12192000" cy="6858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arget="theme/theme1.xml" Type="http://schemas.openxmlformats.org/officeDocument/2006/relationships/theme"/><Relationship Id="rId10" Target="notesSlides/notesSlide1.xml" Type="http://schemas.openxmlformats.org/officeDocument/2006/relationships/notesSlide"/><Relationship Id="rId2" Target="viewProps.xml" Type="http://schemas.openxmlformats.org/officeDocument/2006/relationships/viewProps"/><Relationship Id="rId3" Target="presProps.xml" Type="http://schemas.openxmlformats.org/officeDocument/2006/relationships/presProps"/><Relationship Id="rId4" Target="slideMasters/slideMaster1.xml" Type="http://schemas.openxmlformats.org/officeDocument/2006/relationships/slideMaster"/><Relationship Id="rId6" Target="notesMasters/notesMaster1.xml" Type="http://schemas.openxmlformats.org/officeDocument/2006/relationships/notesMaster"/><Relationship Id="rId7" Target="theme/theme2.xml" Type="http://schemas.openxmlformats.org/officeDocument/2006/relationships/theme"/><Relationship Id="rId8" Target="slideMasters/slideMaster2.xml" Type="http://schemas.openxmlformats.org/officeDocument/2006/relationships/slideMaster"/><Relationship Id="rId9" Target="slides/slide1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各位好，这一页我们来详细介绍我们系统的核心技术方案，它主要由三个关键环节构成：融合相似度检索、语义聚类和VLM精调。</a:t>
            </a:r>
          </a:p>
          <a:p>
            <a:pPr algn="l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首先是“融合相似度检索”，也就是我们的轻量粗召回环节。我们发现传统的关键词检索在语义理解上存在短板，而且效率不高。因此，我们的目标是利用轻量级的双塔模型，将文本和图像转化为语义向量，通过快速的向量相似度计算，在保证速度的同时，显著提升召回结果的相关性，为后续处理提供一个高质量的候选池。</a:t>
            </a:r>
          </a:p>
          <a:p>
            <a:pPr algn="l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接下来是“语义聚类”，作为轻量精召回步骤。粗召回的结果可能存在冗余，直接进入精排会浪费计算资源。我们的目标是通过语义聚类，去除冗余信息，筛选出最具代表性的样本。具体来说，我们会使用优化的聚类算法对召回结果进行分组，只选取每个组的核心样本进入下一步，从而有效提升精排的效率。</a:t>
            </a:r>
          </a:p>
          <a:p>
            <a:pPr algn="l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最后是“VLM精调”，也就是精排环节。通用的VLM模型在我们的特定任务上表现不够理想，而且模型太大，推理速度慢。我们的目标是通过模型蒸馏和任务特定的精调，让模型在保持高精度的同时，变得更加轻量和快速。这样，我们就能在保证排序效果的前提下，满足实时应用的性能要求。</a:t>
            </a:r>
          </a:p>
          <a:p>
            <a:pPr algn="l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通过这三个环节的有机结合，我们构建了一个高效、准确的检索和排序系统，能够为用户提供更精准、更快速的服务。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2.xml.rels><?xml version="1.0" encoding="UTF-8" standalone="yes"?><Relationships xmlns="http://schemas.openxmlformats.org/package/2006/relationships"><Relationship Id="rId1" Target="../slideMasters/slideMaster2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幻灯片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Shape 31"/>
          <p:cNvSpPr txBox="1"/>
          <p:nvPr>
            <p:ph idx="1" type="subTitle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Shape 3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Shape 3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Shape 3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和内容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Shape 55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" name="Shape 5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Shape 5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Shape 5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节标题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Shape 60"/>
          <p:cNvSpPr txBox="1"/>
          <p:nvPr>
            <p:ph idx="1" type="body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Shape 6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" name="Shape 6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" name="Shape 6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两栏内容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Shape 10"/>
          <p:cNvSpPr txBox="1"/>
          <p:nvPr>
            <p:ph idx="1" type="body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" name="Shape 11"/>
          <p:cNvSpPr txBox="1"/>
          <p:nvPr>
            <p:ph idx="2" type="body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3" name="Shape 1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" name="Shape 1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Shape 1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比较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Shape 36"/>
          <p:cNvSpPr txBox="1"/>
          <p:nvPr>
            <p:ph idx="1" type="body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39" name="Shape 37"/>
          <p:cNvSpPr txBox="1"/>
          <p:nvPr>
            <p:ph idx="2" type="body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0" name="Shape 38"/>
          <p:cNvSpPr txBox="1"/>
          <p:nvPr>
            <p:ph idx="3" type="body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1" name="Shape 39"/>
          <p:cNvSpPr txBox="1"/>
          <p:nvPr>
            <p:ph idx="4" type="body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2" name="Shape 40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3" name="Shape 41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" name="Shape 42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仅标题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Shape 2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Shape 2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" name="Shape 2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空白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Shape 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Shape 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内容与标题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Shape 44"/>
          <p:cNvSpPr txBox="1"/>
          <p:nvPr>
            <p:ph idx="1" type="body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Shape 45"/>
          <p:cNvSpPr txBox="1"/>
          <p:nvPr>
            <p:ph idx="2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8" name="Shape 4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Shape 4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Shape 4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图片与标题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Shape 25"/>
          <p:cNvSpPr/>
          <p:nvPr>
            <p:ph idx="2" type="pic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/>
          <p:nvPr>
            <p:ph idx="1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65" name="Shape 2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Shape 2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Shape 29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和竖排文字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Shape 50"/>
          <p:cNvSpPr txBox="1"/>
          <p:nvPr>
            <p:ph idx="1" type="body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Shape 5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Shape 5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Shape 5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竖排标题与文本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Shape 16"/>
          <p:cNvSpPr txBox="1"/>
          <p:nvPr>
            <p:ph idx="1" type="body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Shape 1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Shape 1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Shape 19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_rels/slideMaster2.xml.rels><?xml version="1.0" encoding="UTF-8" standalone="yes"?><Relationships xmlns="http://schemas.openxmlformats.org/package/2006/relationships"><Relationship Id="rId1" Target="../theme/theme3.xml" Type="http://schemas.openxmlformats.org/officeDocument/2006/relationships/theme"/><Relationship Id="rId2" Target="../slideLayouts/slideLayout12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b="0" i="0" sz="3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Shape 2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Shape 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Shape 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Shape 5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默认主题">
    <p:bg>
      <p:bgPr>
        <a:solidFill>
          <a:srgbClr val="FFFFFF">
            <a:alpha val="100000"/>
          </a:srgbClr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57483699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notesSlides/notesSlide1.xml" Type="http://schemas.openxmlformats.org/officeDocument/2006/relationships/notesSlide"/><Relationship Id="rId9" Target="../media/image7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F172A">
                <a:alpha val="100000"/>
              </a:srgbClr>
            </a:gs>
            <a:gs pos="100000">
              <a:srgbClr val="1E293B">
                <a:alpha val="100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2070100" y="508000"/>
            <a:ext cx="8051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indent="0">
              <a:lnSpc>
                <a:spcPct val="125000"/>
              </a:lnSpc>
              <a:defRPr/>
            </a:pPr>
            <a:r>
              <a:rPr lang="en-US" b="true" i="false" strike="noStrike" u="none" sz="36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核心技术方案：融合检索与精排优化</a:t>
            </a:r>
            <a:endParaRPr lang="en-US" sz="1100"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5461000" y="1143000"/>
            <a:ext cx="1270000" cy="38100"/>
          </a:xfrm>
          <a:prstGeom prst="roundRect">
            <a:avLst>
              <a:gd name="adj" fmla="val 0"/>
            </a:avLst>
          </a:prstGeom>
          <a:solidFill>
            <a:srgbClr val="00BFFF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508000" y="1524000"/>
            <a:ext cx="3556000" cy="4318000"/>
          </a:xfrm>
          <a:prstGeom prst="roundRect">
            <a:avLst>
              <a:gd name="adj" fmla="val 3571"/>
            </a:avLst>
          </a:prstGeom>
          <a:solidFill>
            <a:srgbClr val="FFFFFF">
              <a:alpha val="5000"/>
            </a:srgbClr>
          </a:solidFill>
          <a:ln w="12700" cmpd="sng" cap="flat">
            <a:solidFill>
              <a:srgbClr val="00BFFF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0" flipH="false" flipV="false">
            <a:off x="1968500" y="1714500"/>
            <a:ext cx="635000" cy="635000"/>
          </a:xfrm>
          <a:prstGeom prst="rect">
            <a:avLst/>
          </a:prstGeom>
        </p:spPr>
      </p:pic>
      <p:sp>
        <p:nvSpPr>
          <p:cNvPr name="AutoShape 6" id="6"/>
          <p:cNvSpPr/>
          <p:nvPr/>
        </p:nvSpPr>
        <p:spPr>
          <a:xfrm rot="0" flipH="false" flipV="false">
            <a:off x="635000" y="2413000"/>
            <a:ext cx="3302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indent="0">
              <a:lnSpc>
                <a:spcPct val="125000"/>
              </a:lnSpc>
              <a:defRPr/>
            </a:pPr>
            <a:r>
              <a:rPr lang="en-US" b="true" i="false" strike="noStrike" u="none" sz="2000">
                <a:solidFill>
                  <a:srgbClr val="00BFFF"/>
                </a:solidFill>
                <a:latin typeface="Noto Sans SC"/>
                <a:ea typeface="Noto Sans SC"/>
                <a:cs typeface="Noto Sans SC"/>
                <a:sym typeface="Noto Sans SC"/>
              </a:rPr>
              <a:t>融合相似度检索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ctr" indent="0">
              <a:lnSpc>
                <a:spcPct val="125000"/>
              </a:lnSpc>
            </a:pPr>
            <a:r>
              <a:rPr lang="en-US" b="false" i="false" strike="noStrike" u="none" sz="140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轻量粗召回</a:t>
            </a:r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635000" y="3048000"/>
            <a:ext cx="3302000" cy="889000"/>
          </a:xfrm>
          <a:prstGeom prst="roundRect">
            <a:avLst>
              <a:gd name="adj" fmla="val 7142"/>
            </a:avLst>
          </a:prstGeom>
          <a:solidFill>
            <a:srgbClr val="000000">
              <a:alpha val="2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698500" y="3111500"/>
            <a:ext cx="3175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D700"/>
                </a:solidFill>
                <a:latin typeface="Noto Sans SC"/>
                <a:ea typeface="Noto Sans SC"/>
                <a:cs typeface="Noto Sans SC"/>
                <a:sym typeface="Noto Sans SC"/>
              </a:rPr>
              <a:t>当前问题：</a:t>
            </a:r>
            <a:r>
              <a:rPr lang="en-US" b="false" i="false" strike="noStrike" u="none" sz="12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传统关键词匹配语义理解弱，召回相关度差，且计算消耗大，难以支撑大规模实时检索。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635000" y="4000500"/>
            <a:ext cx="3302000" cy="889000"/>
          </a:xfrm>
          <a:prstGeom prst="roundRect">
            <a:avLst>
              <a:gd name="adj" fmla="val 7142"/>
            </a:avLst>
          </a:prstGeom>
          <a:solidFill>
            <a:srgbClr val="000000">
              <a:alpha val="2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698500" y="4064000"/>
            <a:ext cx="3175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D700"/>
                </a:solidFill>
                <a:latin typeface="Noto Sans SC"/>
                <a:ea typeface="Noto Sans SC"/>
                <a:cs typeface="Noto Sans SC"/>
                <a:sym typeface="Noto Sans SC"/>
              </a:rPr>
              <a:t>目标效果：</a:t>
            </a:r>
            <a:r>
              <a:rPr lang="en-US" b="false" i="false" strike="noStrike" u="none" sz="12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提升召回结果语义相关性，实现快速准确的粗召回，为精排提供高质量候选集。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635000" y="4953000"/>
            <a:ext cx="3302000" cy="762000"/>
          </a:xfrm>
          <a:prstGeom prst="roundRect">
            <a:avLst>
              <a:gd name="adj" fmla="val 8333"/>
            </a:avLst>
          </a:prstGeom>
          <a:solidFill>
            <a:srgbClr val="000000">
              <a:alpha val="2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698500" y="5016500"/>
            <a:ext cx="3175000" cy="635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D700"/>
                </a:solidFill>
                <a:latin typeface="Noto Sans SC"/>
                <a:ea typeface="Noto Sans SC"/>
                <a:cs typeface="Noto Sans SC"/>
                <a:sym typeface="Noto Sans SC"/>
              </a:rPr>
              <a:t>技术方案：</a:t>
            </a:r>
            <a:r>
              <a:rPr lang="en-US" b="false" i="false" strike="noStrike" u="none" sz="12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采用双塔模型量化版本，结合倒排索引与量化技术优化检索效率。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4318000" y="1524000"/>
            <a:ext cx="3556000" cy="4318000"/>
          </a:xfrm>
          <a:prstGeom prst="roundRect">
            <a:avLst>
              <a:gd name="adj" fmla="val 3571"/>
            </a:avLst>
          </a:prstGeom>
          <a:solidFill>
            <a:srgbClr val="FFFFFF">
              <a:alpha val="5000"/>
            </a:srgbClr>
          </a:solidFill>
          <a:ln w="12700" cmpd="sng" cap="flat">
            <a:solidFill>
              <a:srgbClr val="00BFFF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14" id="14"/>
          <p:cNvPicPr>
            <a:picLocks noChangeAspect="true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0" flipH="false" flipV="false">
            <a:off x="5778500" y="1714500"/>
            <a:ext cx="635000" cy="635000"/>
          </a:xfrm>
          <a:prstGeom prst="rect">
            <a:avLst/>
          </a:prstGeom>
        </p:spPr>
      </p:pic>
      <p:sp>
        <p:nvSpPr>
          <p:cNvPr name="AutoShape 15" id="15"/>
          <p:cNvSpPr/>
          <p:nvPr/>
        </p:nvSpPr>
        <p:spPr>
          <a:xfrm rot="0" flipH="false" flipV="false">
            <a:off x="4445000" y="2413000"/>
            <a:ext cx="3302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indent="0">
              <a:lnSpc>
                <a:spcPct val="125000"/>
              </a:lnSpc>
              <a:defRPr/>
            </a:pPr>
            <a:r>
              <a:rPr lang="en-US" b="true" i="false" strike="noStrike" u="none" sz="2000">
                <a:solidFill>
                  <a:srgbClr val="00BFFF"/>
                </a:solidFill>
                <a:latin typeface="Noto Sans SC"/>
                <a:ea typeface="Noto Sans SC"/>
                <a:cs typeface="Noto Sans SC"/>
                <a:sym typeface="Noto Sans SC"/>
              </a:rPr>
              <a:t>语义聚类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ctr" indent="0">
              <a:lnSpc>
                <a:spcPct val="125000"/>
              </a:lnSpc>
            </a:pPr>
            <a:r>
              <a:rPr lang="en-US" b="false" i="false" strike="noStrike" u="none" sz="140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轻量精召回</a:t>
            </a:r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4445000" y="3048000"/>
            <a:ext cx="3302000" cy="889000"/>
          </a:xfrm>
          <a:prstGeom prst="roundRect">
            <a:avLst>
              <a:gd name="adj" fmla="val 7142"/>
            </a:avLst>
          </a:prstGeom>
          <a:solidFill>
            <a:srgbClr val="000000">
              <a:alpha val="2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4508500" y="3111500"/>
            <a:ext cx="3175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D700"/>
                </a:solidFill>
                <a:latin typeface="Noto Sans SC"/>
                <a:ea typeface="Noto Sans SC"/>
                <a:cs typeface="Noto Sans SC"/>
                <a:sym typeface="Noto Sans SC"/>
              </a:rPr>
              <a:t>当前问题：</a:t>
            </a:r>
            <a:r>
              <a:rPr lang="en-US" b="false" i="false" strike="noStrike" u="none" sz="12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粗召回结果存在冗余与噪声，直接精排成本高且影响最终效果。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4445000" y="4000500"/>
            <a:ext cx="3302000" cy="889000"/>
          </a:xfrm>
          <a:prstGeom prst="roundRect">
            <a:avLst>
              <a:gd name="adj" fmla="val 7142"/>
            </a:avLst>
          </a:prstGeom>
          <a:solidFill>
            <a:srgbClr val="000000">
              <a:alpha val="2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4508500" y="4064000"/>
            <a:ext cx="3175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D700"/>
                </a:solidFill>
                <a:latin typeface="Noto Sans SC"/>
                <a:ea typeface="Noto Sans SC"/>
                <a:cs typeface="Noto Sans SC"/>
                <a:sym typeface="Noto Sans SC"/>
              </a:rPr>
              <a:t>目标效果：</a:t>
            </a:r>
            <a:r>
              <a:rPr lang="en-US" b="false" i="false" strike="noStrike" u="none" sz="12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去除冗余信息，筛选代表性样本，减少候选规模，提升精排效率。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4445000" y="4953000"/>
            <a:ext cx="3302000" cy="762000"/>
          </a:xfrm>
          <a:prstGeom prst="roundRect">
            <a:avLst>
              <a:gd name="adj" fmla="val 8333"/>
            </a:avLst>
          </a:prstGeom>
          <a:solidFill>
            <a:srgbClr val="000000">
              <a:alpha val="2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4508500" y="5016500"/>
            <a:ext cx="3175000" cy="635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D700"/>
                </a:solidFill>
                <a:latin typeface="Noto Sans SC"/>
                <a:ea typeface="Noto Sans SC"/>
                <a:cs typeface="Noto Sans SC"/>
                <a:sym typeface="Noto Sans SC"/>
              </a:rPr>
              <a:t>技术方案：</a:t>
            </a:r>
            <a:r>
              <a:rPr lang="en-US" b="false" i="false" strike="noStrike" u="none" sz="12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基于语义向量的轻量级聚类算法，选取聚类中心代表性样本。</a:t>
            </a:r>
            <a:endParaRPr lang="en-US" sz="1100"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8128000" y="1524000"/>
            <a:ext cx="3556000" cy="4318000"/>
          </a:xfrm>
          <a:prstGeom prst="roundRect">
            <a:avLst>
              <a:gd name="adj" fmla="val 3571"/>
            </a:avLst>
          </a:prstGeom>
          <a:solidFill>
            <a:srgbClr val="FFFFFF">
              <a:alpha val="5000"/>
            </a:srgbClr>
          </a:solidFill>
          <a:ln w="12700" cmpd="sng" cap="flat">
            <a:solidFill>
              <a:srgbClr val="00BFFF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23" id="23"/>
          <p:cNvPicPr>
            <a:picLocks noChangeAspect="true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0" flipH="false" flipV="false">
            <a:off x="9588500" y="1714500"/>
            <a:ext cx="635000" cy="635000"/>
          </a:xfrm>
          <a:prstGeom prst="rect">
            <a:avLst/>
          </a:prstGeom>
        </p:spPr>
      </p:pic>
      <p:sp>
        <p:nvSpPr>
          <p:cNvPr name="AutoShape 24" id="24"/>
          <p:cNvSpPr/>
          <p:nvPr/>
        </p:nvSpPr>
        <p:spPr>
          <a:xfrm rot="0" flipH="false" flipV="false">
            <a:off x="8255000" y="2413000"/>
            <a:ext cx="3302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indent="0">
              <a:lnSpc>
                <a:spcPct val="125000"/>
              </a:lnSpc>
              <a:defRPr/>
            </a:pPr>
            <a:r>
              <a:rPr lang="en-US" b="true" i="false" strike="noStrike" u="none" sz="2000">
                <a:solidFill>
                  <a:srgbClr val="00BFFF"/>
                </a:solidFill>
                <a:latin typeface="Noto Sans SC"/>
                <a:ea typeface="Noto Sans SC"/>
                <a:cs typeface="Noto Sans SC"/>
                <a:sym typeface="Noto Sans SC"/>
              </a:rPr>
              <a:t>VLM精调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ctr" indent="0">
              <a:lnSpc>
                <a:spcPct val="125000"/>
              </a:lnSpc>
            </a:pPr>
            <a:r>
              <a:rPr lang="en-US" b="false" i="false" strike="noStrike" u="none" sz="140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精排优化</a:t>
            </a:r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8255000" y="3048000"/>
            <a:ext cx="3302000" cy="889000"/>
          </a:xfrm>
          <a:prstGeom prst="roundRect">
            <a:avLst>
              <a:gd name="adj" fmla="val 7142"/>
            </a:avLst>
          </a:prstGeom>
          <a:solidFill>
            <a:srgbClr val="000000">
              <a:alpha val="2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8318500" y="3111500"/>
            <a:ext cx="3175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D700"/>
                </a:solidFill>
                <a:latin typeface="Noto Sans SC"/>
                <a:ea typeface="Noto Sans SC"/>
                <a:cs typeface="Noto Sans SC"/>
                <a:sym typeface="Noto Sans SC"/>
              </a:rPr>
              <a:t>当前问题：</a:t>
            </a:r>
            <a:r>
              <a:rPr lang="en-US" b="false" i="false" strike="noStrike" u="none" sz="12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通用VLM模型特定任务效果不佳，参数量大，推理速度慢。</a:t>
            </a:r>
            <a:endParaRPr lang="en-US" sz="1100"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8255000" y="4000500"/>
            <a:ext cx="3302000" cy="889000"/>
          </a:xfrm>
          <a:prstGeom prst="roundRect">
            <a:avLst>
              <a:gd name="adj" fmla="val 7142"/>
            </a:avLst>
          </a:prstGeom>
          <a:solidFill>
            <a:srgbClr val="000000">
              <a:alpha val="2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8318500" y="4064000"/>
            <a:ext cx="3175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D700"/>
                </a:solidFill>
                <a:latin typeface="Noto Sans SC"/>
                <a:ea typeface="Noto Sans SC"/>
                <a:cs typeface="Noto Sans SC"/>
                <a:sym typeface="Noto Sans SC"/>
              </a:rPr>
              <a:t>目标效果：</a:t>
            </a:r>
            <a:r>
              <a:rPr lang="en-US" b="false" i="false" strike="noStrike" u="none" sz="12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提升排序准确性与相关性，通过模型压缩优化保证推理速度。</a:t>
            </a:r>
            <a:endParaRPr lang="en-US" sz="1100"/>
          </a:p>
        </p:txBody>
      </p:sp>
      <p:sp>
        <p:nvSpPr>
          <p:cNvPr name="AutoShape 29" id="29"/>
          <p:cNvSpPr/>
          <p:nvPr/>
        </p:nvSpPr>
        <p:spPr>
          <a:xfrm rot="0" flipH="false" flipV="false">
            <a:off x="8255000" y="4953000"/>
            <a:ext cx="3302000" cy="762000"/>
          </a:xfrm>
          <a:prstGeom prst="roundRect">
            <a:avLst>
              <a:gd name="adj" fmla="val 8333"/>
            </a:avLst>
          </a:prstGeom>
          <a:solidFill>
            <a:srgbClr val="000000">
              <a:alpha val="2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0" id="30"/>
          <p:cNvSpPr/>
          <p:nvPr/>
        </p:nvSpPr>
        <p:spPr>
          <a:xfrm rot="0" flipH="false" flipV="false">
            <a:off x="8318500" y="5016500"/>
            <a:ext cx="3175000" cy="635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D700"/>
                </a:solidFill>
                <a:latin typeface="Noto Sans SC"/>
                <a:ea typeface="Noto Sans SC"/>
                <a:cs typeface="Noto Sans SC"/>
                <a:sym typeface="Noto Sans SC"/>
              </a:rPr>
              <a:t>技术方案：</a:t>
            </a:r>
            <a:r>
              <a:rPr lang="en-US" b="false" i="false" strike="noStrike" u="none" sz="12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模型蒸馏技术迁移知识，结合任务标注精调与剪枝量化。</a:t>
            </a:r>
            <a:endParaRPr lang="en-US" sz="1100"/>
          </a:p>
        </p:txBody>
      </p:sp>
      <p:pic>
        <p:nvPicPr>
          <p:cNvPr name="Picture 31" id="31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>
            <a:off x="10668000" y="6190112"/>
            <a:ext cx="1524000" cy="6678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